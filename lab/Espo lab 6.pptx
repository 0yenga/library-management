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98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7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fr-F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02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81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73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94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0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44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38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49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E753DF0-7E8B-4B22-B108-4E1595F27BDC}" type="datetimeFigureOut">
              <a:rPr lang="fr-FR" smtClean="0"/>
              <a:t>19/12/2025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FA2E570-D9BF-4E24-9F79-66DD37CC96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85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A75E-729D-DA88-7BE5-040C00B734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Лабораторная работа №6</a:t>
            </a:r>
            <a:br>
              <a:rPr lang="ru-RU" dirty="0"/>
            </a:br>
            <a:br>
              <a:rPr lang="ru-RU" dirty="0"/>
            </a:b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79BE9-E0E0-283E-3828-C6D36E611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555" y="3428847"/>
            <a:ext cx="9144000" cy="1655762"/>
          </a:xfrm>
        </p:spPr>
        <p:txBody>
          <a:bodyPr>
            <a:normAutofit fontScale="32500" lnSpcReduction="20000"/>
          </a:bodyPr>
          <a:lstStyle/>
          <a:p>
            <a:r>
              <a:rPr lang="ru-RU" sz="6700" i="1" baseline="30000" dirty="0"/>
              <a:t>Выполнил:</a:t>
            </a:r>
            <a:endParaRPr lang="fr-FR" sz="6700" i="1" dirty="0"/>
          </a:p>
          <a:p>
            <a:r>
              <a:rPr lang="ru-RU" sz="6700" i="1" baseline="30000" dirty="0"/>
              <a:t>Студент гр. 25-ИВТ-2-1 Аджамбо Эспуар Ойенга</a:t>
            </a:r>
            <a:endParaRPr lang="fr-FR" sz="6700" i="1" dirty="0"/>
          </a:p>
          <a:p>
            <a:r>
              <a:rPr lang="ru-RU" sz="4600" b="1" dirty="0"/>
              <a:t>Оформление и документирование программного проекта</a:t>
            </a:r>
          </a:p>
          <a:p>
            <a:br>
              <a:rPr lang="ru-RU" sz="4600" b="1" dirty="0"/>
            </a:br>
            <a:endParaRPr lang="fr-FR" sz="4600" b="1" dirty="0"/>
          </a:p>
        </p:txBody>
      </p:sp>
    </p:spTree>
    <p:extLst>
      <p:ext uri="{BB962C8B-B14F-4D97-AF65-F5344CB8AC3E}">
        <p14:creationId xmlns:p14="http://schemas.microsoft.com/office/powerpoint/2010/main" val="18369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20E7-8EF9-9E2C-7246-C4FF9F97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u="sng" dirty="0"/>
              <a:t>Введение</a:t>
            </a:r>
            <a:br>
              <a:rPr lang="ru-RU" dirty="0"/>
            </a:br>
            <a:br>
              <a:rPr lang="ru-RU" dirty="0"/>
            </a:br>
            <a:r>
              <a:rPr lang="fr-F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98E4-B484-E004-E354-F6FA0DFC2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703" y="1179871"/>
            <a:ext cx="10926097" cy="49970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900" dirty="0"/>
              <a:t>Управление библиотечными фондами связано с хранением, обработкой и регулярным обновлением значительного объёма данных, относящихся к книжным изданиям. Во многих случаях данные процессы выполняются вручную либо с использованием слабо структурированных средств, что может приводить к ошибкам, потере информации и усложнению работы персонала.</a:t>
            </a:r>
          </a:p>
          <a:p>
            <a:pPr marL="0" indent="0">
              <a:buNone/>
            </a:pPr>
            <a:endParaRPr lang="ru-RU" sz="2900" dirty="0"/>
          </a:p>
          <a:p>
            <a:pPr marL="0" indent="0">
              <a:buNone/>
            </a:pPr>
            <a:r>
              <a:rPr lang="ru-RU" sz="2900" dirty="0"/>
              <a:t>В условиях цифровизации актуальной является задача автоматизации процессов управления данными. Создание программных средств, обеспечивающих структурированное хранение и обработку информации, позволяет повысить точность, скорость и надёжность работы. Настоящий проект направлен на разработку программного обеспечения для управления библиотекой, обеспечивающего хранение данных об изданиях, их обработку и экспорт в различные форматы.</a:t>
            </a:r>
            <a:endParaRPr lang="fr-FR" sz="2900" dirty="0"/>
          </a:p>
          <a:p>
            <a:pPr marL="0" indent="0">
              <a:buNone/>
            </a:pPr>
            <a:endParaRPr lang="ru-RU" sz="2900" dirty="0"/>
          </a:p>
          <a:p>
            <a:pPr marL="0" indent="0">
              <a:buNone/>
            </a:pPr>
            <a:r>
              <a:rPr lang="ru-RU" sz="2900" dirty="0"/>
              <a:t>Целью данной работы является разработка консольного приложения на языке C++, предназначенного для управления библиотечными данными с использованием базы данных и поддержкой экспорта информации. Актуальность проекта обусловлена необходимостью практического освоения принципов объектно-ориентированного программирования, проектирования архитектуры программных систем и оформления технической документации.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670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2A5D-16EC-5C3F-D37E-D71A099F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1</a:t>
            </a:r>
            <a:r>
              <a:rPr lang="ru-RU" u="sng" dirty="0"/>
              <a:t>. Определение предметной области и постановка задачи</a:t>
            </a:r>
            <a:br>
              <a:rPr lang="ru-RU" u="sng" dirty="0"/>
            </a:br>
            <a:br>
              <a:rPr lang="ru-RU" u="sng" dirty="0"/>
            </a:br>
            <a:endParaRPr lang="fr-FR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AD97-F6F3-B19D-AC6B-3F3ABA20D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i="1" dirty="0"/>
              <a:t>1.1 Предметная область</a:t>
            </a:r>
            <a:br>
              <a:rPr lang="ru-RU" i="1" dirty="0"/>
            </a:br>
            <a:endParaRPr lang="ru-RU" i="1" dirty="0"/>
          </a:p>
          <a:p>
            <a:pPr marL="0" indent="0">
              <a:buNone/>
            </a:pPr>
            <a:r>
              <a:rPr lang="ru-RU" dirty="0"/>
              <a:t>Предметной областью проекта является автоматизированная система управления библиотекой. Система предназначена для хранения и обработки информации о книгах, а также для обеспечения удобного доступа к данным.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i="1" dirty="0"/>
              <a:t>1.2 Пользователи системы</a:t>
            </a:r>
            <a:br>
              <a:rPr lang="ru-RU" i="1" dirty="0"/>
            </a:br>
            <a:endParaRPr lang="ru-RU" i="1" dirty="0"/>
          </a:p>
          <a:p>
            <a:pPr marL="0" indent="0">
              <a:buNone/>
            </a:pPr>
            <a:r>
              <a:rPr lang="ru-RU" dirty="0"/>
              <a:t>Программный продукт ориентирован на одного пользователя, выполняющего функции администратора библиотеки. Взаимодействие с системой осуществляется через интерфейс командной строки.</a:t>
            </a:r>
          </a:p>
          <a:p>
            <a:pPr marL="0" indent="0">
              <a:buNone/>
            </a:pPr>
            <a:br>
              <a:rPr lang="ru-RU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634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A71D93-F9E7-199D-CA48-335C778EE112}"/>
              </a:ext>
            </a:extLst>
          </p:cNvPr>
          <p:cNvSpPr txBox="1"/>
          <p:nvPr/>
        </p:nvSpPr>
        <p:spPr>
          <a:xfrm>
            <a:off x="1150374" y="394692"/>
            <a:ext cx="1010264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i="1" dirty="0"/>
              <a:t>1.3 Основные функции системы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dirty="0"/>
              <a:t>Разрабатываемая система должна обеспечивать выполнение следующих функций: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dirty="0"/>
              <a:t>добавление и удаление книг;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dirty="0"/>
              <a:t>просмотр информации о библиотечном фонде;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dirty="0"/>
              <a:t>сохранение данных в базе данных;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dirty="0"/>
              <a:t>экспорт данных в форматы CSV, JSON, XML и YAML;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r>
              <a:rPr lang="ru-RU" dirty="0"/>
              <a:t>поддержание целостности и структурированности данных.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>
              <a:buNone/>
            </a:pPr>
            <a:br>
              <a:rPr lang="ru-RU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60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DF2B-081F-C258-436E-AA2FE2A9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2</a:t>
            </a:r>
            <a:r>
              <a:rPr lang="ru-RU" u="sng" dirty="0"/>
              <a:t>. Моделирование процессов и взаимодействий</a:t>
            </a:r>
            <a:br>
              <a:rPr lang="ru-RU" dirty="0"/>
            </a:br>
            <a:br>
              <a:rPr lang="ru-RU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47D2A-EDE2-9D97-DA4A-A8E465F22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i="1" dirty="0"/>
              <a:t>2.1 Диаграмма вариантов использования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Диаграмма вариантов использования отражает основные сценарии взаимодействия пользователя с системой. Она демонстрирует доступные пользователю действия, такие как управление книгами, просмотр данных и экспорт информации. Данный вид моделирования позволяет наглядно представить функциональные возможности системы.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i="1" dirty="0"/>
              <a:t>2.2 Алгоритмическая модель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Алгоритмы, реализованные в системе, описывают последовательность операций при работе с библиотечными данными. Блок-схемы отражают логику обработки информации, условия выполнения операций и взаимосвязь между основными этапами работы программы.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889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C82D-3EAE-32D6-0499-5E4D2A73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u="sng" dirty="0"/>
              <a:t>3. Проектирование структуры данных</a:t>
            </a:r>
            <a:br>
              <a:rPr lang="ru-RU" u="sng" dirty="0"/>
            </a:br>
            <a:br>
              <a:rPr lang="ru-RU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91A16-9BFB-FF0F-E7AD-61A0E648B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3.1 Сущности и атрибуты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Основной сущностью системы является сущность «Книга», содержащая набор атрибутов, необходимых для идентификации и описания издания. Данная сущность используется при формировании структуры базы данных и логики обработки информации.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i="1" dirty="0"/>
              <a:t>3.2 Связи между сущностями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Данные организованы в соответствии с реляционной моделью. Диаграмма «сущность–связь» (ERD) демонстрирует структуру хранения данных, взаимосвязи между сущностями и обеспечивает логическую целостность информации.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409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3996-7C32-CA2A-4604-CC3281A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u="sng" dirty="0"/>
              <a:t>4. Выбор и обоснование стека технологий</a:t>
            </a:r>
            <a:br>
              <a:rPr lang="ru-RU" dirty="0"/>
            </a:br>
            <a:br>
              <a:rPr lang="ru-RU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F3E69-64CC-444B-FB52-620DAAAB9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i="1" dirty="0"/>
              <a:t>4.1 Язык программирования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r>
              <a:rPr lang="ru-RU" dirty="0"/>
              <a:t>Для реализации проекта был выбран язык программирования C++, так как он обеспечивает высокую производительность, поддержку объектно-ориентированного подхода и гибкое управление системными ресурсами. Эти характеристики делают язык C++ подходящим для разработки приложений, ориентированных на работу с данными и архитектурной структурой.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i="1" dirty="0"/>
              <a:t>4.2 Архитектура системы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Программное обеспечение реализовано с использованием модульной архитектуры. Логика приложения разделена на отдельные компоненты, отвечающие за представление данных, бизнес-логику и доступ к базе данных. Такой подход упрощает сопровождение кода и расширение функциональности системы.</a:t>
            </a:r>
            <a:br>
              <a:rPr lang="ru-RU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385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6D905-75A0-1DBD-6E7D-7681FAA1EC8B}"/>
              </a:ext>
            </a:extLst>
          </p:cNvPr>
          <p:cNvSpPr txBox="1"/>
          <p:nvPr/>
        </p:nvSpPr>
        <p:spPr>
          <a:xfrm>
            <a:off x="1017639" y="197346"/>
            <a:ext cx="937997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4.3 База данных</a:t>
            </a:r>
          </a:p>
          <a:p>
            <a:pPr algn="l">
              <a:buNone/>
            </a:pPr>
            <a:b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ru-RU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Для обеспечения постоянного хранения информации используется реляционная база данных. Данный выбор позволяет структурировать данные, обеспечить их целостность и надёжность хранения, а также упростить дальнейшую обработку информации.</a:t>
            </a:r>
          </a:p>
          <a:p>
            <a:pPr algn="l">
              <a:buNone/>
            </a:pPr>
            <a:b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ru-RU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ru-RU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4.4 Форматы экспорта данных</a:t>
            </a:r>
          </a:p>
          <a:p>
            <a:pPr algn="l">
              <a:buNone/>
            </a:pPr>
            <a:br>
              <a:rPr lang="ru-RU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ru-RU" b="0" i="1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Система поддерживает экспорт данных в форматы CSV, JSON, XML и YAML. Использование нескольких форматов обеспечивает универсальность приложения и возможность интеграции с внешними системами и инструментами анализа данных.</a:t>
            </a:r>
          </a:p>
          <a:p>
            <a:pPr algn="l">
              <a:buNone/>
            </a:pPr>
            <a:b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ru-RU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ru-RU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4.5 Инструменты разработки</a:t>
            </a:r>
          </a:p>
          <a:p>
            <a:pPr algn="l">
              <a:buNone/>
            </a:pPr>
            <a:b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ru-RU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В процессе разработки использовались среда разработки для языка C++, инструменты проектирования диаграмм, а также система контроля версий для управления исходным кодом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796025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E742-7980-5D19-E96E-60FFD0E7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u="sng" dirty="0"/>
              <a:t>5. Практическая реализация</a:t>
            </a:r>
            <a:br>
              <a:rPr lang="ru-RU" u="sng" dirty="0"/>
            </a:br>
            <a:br>
              <a:rPr lang="ru-RU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F772E-96E0-EEE1-EC51-0990CF37A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5.1 Структура программного продукта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Программный проект состоит из нескольких файлов и модулей, каждый из которых выполняет определённую функцию. Главный файл программы отвечает за запуск приложения и взаимодействие с пользователем, в то время как остальные модули реализуют работу с данными и базой данных.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i="1" dirty="0"/>
              <a:t>5.2 Ключевые элементы реализации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Ключевыми элементами реализации являются классы и функции, обеспечивающие создание и обработку объектов книг, управление библиотечным фондом и выполнение операций с базой данных. Эти компоненты формируют основу функционирования всей системы.</a:t>
            </a:r>
            <a:br>
              <a:rPr lang="ru-RU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303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80223C-0DA7-B1E6-283F-F5C350233C14}"/>
              </a:ext>
            </a:extLst>
          </p:cNvPr>
          <p:cNvSpPr txBox="1"/>
          <p:nvPr/>
        </p:nvSpPr>
        <p:spPr>
          <a:xfrm>
            <a:off x="884903" y="324464"/>
            <a:ext cx="108695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i="1" dirty="0"/>
              <a:t>5.3 Пример работы программы</a:t>
            </a:r>
          </a:p>
          <a:p>
            <a:pPr>
              <a:buNone/>
            </a:pPr>
            <a:br>
              <a:rPr lang="ru-RU" sz="2400" dirty="0"/>
            </a:br>
            <a:endParaRPr lang="ru-RU" sz="2400" dirty="0"/>
          </a:p>
          <a:p>
            <a:pPr>
              <a:buNone/>
            </a:pPr>
            <a:r>
              <a:rPr lang="ru-RU" sz="2400" dirty="0"/>
              <a:t>В качестве примера работы системы можно рассмотреть сценарий добавления новой книги, отображения списка доступных изданий и экспорта данных в выбранный формат. Полученные результаты подтверждают корректность и стабильность работы программы.</a:t>
            </a:r>
          </a:p>
          <a:p>
            <a:pPr>
              <a:buNone/>
            </a:pPr>
            <a:br>
              <a:rPr lang="ru-RU" sz="2400" dirty="0"/>
            </a:b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26852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1AC6-B2D4-7CCB-2168-BE254728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u="sng" dirty="0"/>
              <a:t>Заключение</a:t>
            </a:r>
            <a:endParaRPr lang="fr-FR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57DCB-C89C-30D2-E96E-2A04C6B58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ходе выполнения лабораторной работы был разработан программный продукт для управления библиотекой. Поставленные цели были достигнуты: реализовано структурированное хранение данных, обеспечена их обработка и экспорт в различные форматы.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Основные трудности были связаны с проектированием структуры данных и интеграцией различных компонентов системы. Применение модульной архитектуры позволило успешно решить данные задачи.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В дальнейшем возможным направлением развития проекта является создание графического пользовательского интерфейса, расширение функциональности системы и поддержка работы с несколькими пользователями.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735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8767-3768-E2C2-F1B6-8937B8FB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u="sng" dirty="0"/>
              <a:t>Список использованных источников</a:t>
            </a:r>
            <a:endParaRPr lang="fr-FR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40EE-2F47-E38F-BC0E-314E6CCD6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ru-RU" dirty="0"/>
            </a:br>
            <a:r>
              <a:rPr lang="ru-RU" dirty="0"/>
              <a:t>1. Страуструп Б. Язык программирования C++. — СПб.: Питер, 2015.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2. ISO/IEC. Документация стандарта C++ [Электронный ресурс].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3. Эльмасри Р., Навате С. Основы систем баз данных. — М.: Вильямс, 2016.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4. Дейт К. Дж. Введение в системы баз данных. — М.: Вильямс, 2003.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5. Официальная документация SQLite [Электронный ресурс].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759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AA08-A7FC-41E0-7544-3AE984F86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u="sng" dirty="0"/>
              <a:t>Приложения</a:t>
            </a:r>
            <a:endParaRPr lang="fr-FR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823E-E2D4-E587-6C26-098B27F1D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приложениях приведены значимые фрагменты исходного кода программы, а также дополнительные диаграммы, использованные в процессе проектирования системы.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0288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23</TotalTime>
  <Words>982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Rockwell</vt:lpstr>
      <vt:lpstr>Rockwell Condensed</vt:lpstr>
      <vt:lpstr>Wingdings</vt:lpstr>
      <vt:lpstr>Wood Type</vt:lpstr>
      <vt:lpstr>Лабораторная работа №6  </vt:lpstr>
      <vt:lpstr>Введение   </vt:lpstr>
      <vt:lpstr>1. Определение предметной области и постановка задачи  </vt:lpstr>
      <vt:lpstr>PowerPoint Presentation</vt:lpstr>
      <vt:lpstr>2. Моделирование процессов и взаимодействий  </vt:lpstr>
      <vt:lpstr>3. Проектирование структуры данных  </vt:lpstr>
      <vt:lpstr>4. Выбор и обоснование стека технологий  </vt:lpstr>
      <vt:lpstr>PowerPoint Presentation</vt:lpstr>
      <vt:lpstr>5. Практическая реализация  </vt:lpstr>
      <vt:lpstr>PowerPoint Presentation</vt:lpstr>
      <vt:lpstr>Заключение</vt:lpstr>
      <vt:lpstr>Список использованных источников</vt:lpstr>
      <vt:lpstr>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Espoir ADJAMBO</dc:creator>
  <cp:lastModifiedBy>Espoir ADJAMBO</cp:lastModifiedBy>
  <cp:revision>1</cp:revision>
  <dcterms:created xsi:type="dcterms:W3CDTF">2025-12-19T11:33:22Z</dcterms:created>
  <dcterms:modified xsi:type="dcterms:W3CDTF">2025-12-19T11:56:30Z</dcterms:modified>
</cp:coreProperties>
</file>